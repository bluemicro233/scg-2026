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8" r:id="rId2"/>
    <p:sldId id="276" r:id="rId3"/>
    <p:sldId id="295" r:id="rId4"/>
    <p:sldId id="300" r:id="rId5"/>
    <p:sldId id="278" r:id="rId6"/>
    <p:sldId id="301" r:id="rId7"/>
    <p:sldId id="279" r:id="rId8"/>
    <p:sldId id="280" r:id="rId9"/>
    <p:sldId id="281" r:id="rId10"/>
    <p:sldId id="299" r:id="rId11"/>
    <p:sldId id="282" r:id="rId12"/>
    <p:sldId id="283" r:id="rId13"/>
    <p:sldId id="289" r:id="rId14"/>
    <p:sldId id="298" r:id="rId15"/>
    <p:sldId id="277" r:id="rId16"/>
    <p:sldId id="284" r:id="rId17"/>
    <p:sldId id="285" r:id="rId18"/>
    <p:sldId id="287" r:id="rId19"/>
    <p:sldId id="288" r:id="rId20"/>
    <p:sldId id="292" r:id="rId21"/>
    <p:sldId id="290" r:id="rId22"/>
    <p:sldId id="291" r:id="rId23"/>
    <p:sldId id="293" r:id="rId24"/>
    <p:sldId id="302" r:id="rId25"/>
    <p:sldId id="294" r:id="rId26"/>
    <p:sldId id="296" r:id="rId27"/>
    <p:sldId id="297" r:id="rId28"/>
    <p:sldId id="304" r:id="rId29"/>
    <p:sldId id="303" r:id="rId30"/>
    <p:sldId id="308" r:id="rId31"/>
    <p:sldId id="306" r:id="rId32"/>
    <p:sldId id="310" r:id="rId33"/>
    <p:sldId id="311" r:id="rId34"/>
    <p:sldId id="312" r:id="rId35"/>
    <p:sldId id="313" r:id="rId36"/>
    <p:sldId id="309" r:id="rId37"/>
    <p:sldId id="315" r:id="rId38"/>
    <p:sldId id="321" r:id="rId39"/>
    <p:sldId id="318" r:id="rId40"/>
    <p:sldId id="320" r:id="rId41"/>
    <p:sldId id="323" r:id="rId42"/>
    <p:sldId id="317" r:id="rId43"/>
    <p:sldId id="334" r:id="rId44"/>
    <p:sldId id="324" r:id="rId45"/>
    <p:sldId id="325" r:id="rId46"/>
    <p:sldId id="329" r:id="rId47"/>
    <p:sldId id="331" r:id="rId48"/>
    <p:sldId id="330" r:id="rId49"/>
    <p:sldId id="332" r:id="rId50"/>
    <p:sldId id="327" r:id="rId51"/>
    <p:sldId id="328" r:id="rId52"/>
    <p:sldId id="335" r:id="rId53"/>
    <p:sldId id="337" r:id="rId54"/>
    <p:sldId id="340" r:id="rId55"/>
    <p:sldId id="336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A603A-1306-44F6-BA3E-3518788F6687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39359-713A-41EE-9C02-5005A88C3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2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6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565D-5C77-242E-2EDA-AD228EA7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380E67-ADEA-91A5-B255-711B5E1B2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DF817C-8D96-B30F-4D87-49E9FFBC4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D6546-8B74-2862-7ECE-3E3D08C79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572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B8EF-2A19-5E04-0D93-07E7FA7B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301CE6-7781-F56F-03C6-E425F3124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5A887C-BBAE-06F1-D2B5-3C81D6B36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487D8C-111B-09A7-CAB3-A172E128C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00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B1FE-94F6-1985-9AE4-EA536C04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5CAAAD-3160-CF56-0154-BB78833D4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8308A4-74AD-438E-CD13-439DAF593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31F2B4-80F9-902B-8CE4-15E56810D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548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8ECB-0983-8FC1-9912-5C359850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4660A4-97D3-6F3E-276D-374DDAE17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F79384-6C35-AEAA-9325-05BB2FDFF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126494-AACB-C34A-5FFB-378C28DF1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224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FABD-CD3A-9CAE-5E5A-E9583E9E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1D1036-3E13-BC6C-4248-FF129E04A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E84A88-15F2-648C-A8D0-B005EDE2B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A3AB97-2069-D463-B3D0-CC109A80B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607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212B-297F-9617-3630-4C0B597F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483A37-90BA-8932-2C7C-89C00F485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A4328C-1585-E4BD-0260-EA186472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F3DBD7-187D-1E56-2DF0-955FAAB5C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62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1D26-DC1E-91E8-84AB-0B9800A4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EB5BB2-15BA-B225-CE01-1F388413F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9B100B-3C87-541E-0708-5DD44C19E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38E52-1AB3-CC0F-81FC-85F0BC009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877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3B7D-F2FA-3278-9191-C98104E1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BD3C4E-2D1E-9941-C1D7-33B698947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586EA0-99AB-3C6D-E4B7-8B906920E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30138-7BE0-EC8A-ED14-0CAF6D206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80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5018-0B3C-2817-938B-C13D9778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28C497-2977-4E9E-A02A-F61D6707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689BAA-8932-C524-E7BD-A054AC367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C02091-3050-331A-06EA-5ACC1E05E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98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9926-B204-22E1-1705-239004E1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CD14DB-A6C8-A895-3379-785D20C82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4C072F-3A82-014F-0F3F-ADD47A260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2150D5-4C69-5FDE-06A5-D1866CCA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974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DD01-05CB-5FE7-37F3-A0E585ABE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71D714-776E-9918-0629-25B153FE2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2611C0-C665-316C-A4BD-1BA10D351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9F1B75-DF38-93CE-356F-9886F47DD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10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7423-FF08-F682-9743-B094F5F78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941A39-F833-292B-C7B7-8B45CE847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47C9D9-A382-E4E8-730F-DF640E8D9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874F54-90BF-50E4-DC40-CAB6513EC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527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3D5E-CCF5-1006-B240-583DFD27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96E165-0B44-3A18-2499-27D334889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4C6EC9-B220-50B8-F242-FB6F505E4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370C10-83F4-AB2B-123D-2A33E6F75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971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F577-1F93-E4E0-0B02-C483A0B2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B1ACDB-7018-B28B-43FC-DE4E1B14A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7DEBC8-8F42-E348-2171-B0D5A42BA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972F80-9805-B6D6-1762-81BBC4C16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310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4D1E-1227-A498-23BC-0AE015371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B7655-B039-C6FC-4741-99DA3EEB4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79249B-2C03-F9A5-F1E9-9D8B49772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70002-635C-46E8-5F1E-AA7878AC9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545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8C8A-8C47-B142-FB93-189E4DEE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4422FC-600A-21D7-36D7-804E8EF3E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301561-216A-C88F-E1AC-EFAF4B271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B38DDF-356B-404D-B1D9-16B1789FF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6158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F09A5-65AA-A323-5C32-282E7CF2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C23235-33B4-8C9E-F939-3D89FED9E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CA74F0-137B-31C3-2F70-70B19BE48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F4DCEB-47D8-6E29-3BFD-416DF3E64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678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4FD2-D7E7-7B77-82C3-1BF1B307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9F89C8-3360-1BCE-4BD3-BC34CBA39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E07305-E57E-CC95-12D8-93450F2BE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BBB58A-1AA0-60D5-D072-460EC8887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5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C2A9-7F2E-AC85-91AD-5D6BCCF5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3F494B-1787-2B33-FB55-A3F87524E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5ED561-9E57-E697-403D-57ACAD625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C38A5F-75AC-8C54-9D4B-54767D6C1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78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DBD0-8251-2EC0-40E3-E8167EF8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622F47-55BE-46F7-DE8E-30EC83429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A6225B-0911-9279-DD0D-22D9BEC9A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2237A4-9F4B-7681-AA42-05577BAEC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3764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0451-7882-A1D9-57EA-619BCA72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38D717-2C92-8D6E-978E-5BA47DEC4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51B161-6F13-6B9B-68AC-592408514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85A65D-1BA8-D320-84A4-7772BA7A6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29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14EB-F00E-DA25-A812-01A7B1E5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590619-8042-F676-EC10-9D17FB3F7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C70065-D421-2EA5-D043-8304F34CF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B37044-C5A6-C58A-A52C-5E367AC95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312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A6AA-EB56-9A7B-4418-7D9EBDBB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DAD871-E3A3-A40D-70AF-4019297FE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4324B5-B59D-2575-0B11-55A01103D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908E47-CA1B-BEA3-D75A-A073247D5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557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C2F6-CD1C-F9A8-C3E0-0E2DB20C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23AFEB-B1ED-8830-84D0-DCCA71ABD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B37D68-2299-F612-1941-A468F6691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D21946-2942-E62C-E82A-EAC86BC38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3776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F823-D4D7-D1F9-B69C-EF84846B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CCB251-D783-E75C-F6B0-40623648C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F61DE2-0BB9-EDAD-32A1-D70B88E35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9BF232-559B-381E-55BB-187208742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8396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4ACD-5949-3A43-DA78-3C1F163A7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686BEB-202C-6143-A6A7-A4443C7CC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82AF92-7B23-70CF-4C55-CE25EAE61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FBE548-71DB-0B66-053D-21271F197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6336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7F086-32D8-3DF4-392D-ABB1149F0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06E3FE-9E9D-13D3-5AF8-4F6054AED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997536-72D2-1EA2-DA40-8BA7C855B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5A2E94-141B-130A-DEDE-F463362D4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454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98D11-D496-2A8C-C6E6-40FC8789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86384C-4A40-C628-0E0E-2954318D6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351008-BF29-1904-5D9C-5C6B32409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B25E1E-3CB1-A646-1E48-D8EA5CA46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9569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711AC-2548-D407-6269-8A36E794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45842A-9DAA-C757-ACFB-B3A974774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62C20B-F45B-0173-B94E-81290097E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D4A46A-334F-7D3B-6C33-27D1055C3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178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C863-BF69-4861-E55A-0713D248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35047C-74F1-E15F-3F39-FAA7D397F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F2EBF9-DA68-85D3-7BC5-10E79B7A0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BC63F-5B7F-CC77-6915-2E5EC77FB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9625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5DD4D-F20B-0D5B-3294-A749BED2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FC754B-F52C-C6AC-CECE-634A3775F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5CE63D-1BAF-7CC8-0271-756350A27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2A4FC9-3631-A4B0-B951-21F794578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6604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6A9F-EAE3-69EE-6722-61124D86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786B5B-D358-FCD5-AD88-E088A7481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98D7CB-2D8F-01BB-31EB-C7969AA14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9BDA2A-9B90-AFCF-9B38-7430A23C8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1366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CF66-8326-A6DE-79FA-884ED0949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1AEAF9-ED23-014B-A0B6-4CDA22389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BEC93-F3DC-8EC4-495E-D8C2D4D25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2D435-5831-CA98-91B4-FD8E73649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1277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9829-BA98-4D44-F3AA-18C53B90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722FF1-86C0-4C5B-BC3B-928F9FE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0D74AA-7BFE-03EE-EF17-13888DB1F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2024F5-9D22-544D-D428-E40881350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5805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E430-C41C-1326-ECEF-4943A866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5C91A5-7298-994D-6B01-E6CC170D9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4793A7-EA9D-153A-2A87-1E97F194F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A1D677-E36A-A231-A806-F5A6A71F0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71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8752-7C94-9C18-55D5-A4B1FDFC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7FC007-4742-74E9-45C0-472696FD3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BAE5E8-1F25-8563-2B68-E50D7F4C9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ED0892-0A73-0ED2-B45D-CEB61B17E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6030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E5E5-F356-F85F-C131-EDE83122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DE84CD-D77F-B038-245D-DAD735F5C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9231F1-102D-81FA-67F3-4D7A0D21B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804F36-C787-4513-8705-CB7DC97EB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66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DD441-3C44-EEC9-25BB-BEB0B6B9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C2ABC0-E808-5978-AD38-2D8B58835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84F0D6-55C4-C62F-4314-48F12F084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C1F5D2-155C-4D63-4176-97B6F5324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7379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53543-C12A-BE66-8C56-C8A0E17F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A566C9-4D89-6002-9994-70559C6B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357D0C-189E-5395-FF49-230D2ABC6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D6556A-9EAF-E727-EA9B-80B1E6606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7084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6866C-269B-0466-D5C1-C4C906BB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71AD16-6F22-5961-8E65-5A8E7777A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E800F4-0830-0A63-72F2-085FD7DF3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464CBB-3E09-973C-B3DE-0F15409E1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122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CF688-E7AB-3CA4-5C15-66991DA3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2C65CB-BDF5-E67F-8333-88E959BEB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39EF91-80FC-478A-3AC5-CE75720CA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665CD9-011C-4800-2980-6C9332432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6128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8D46-87D3-F0AE-401E-E46FF8C5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066ED3-9D0B-3876-1731-ADD47B91C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C15F89-FC78-D46D-3521-86F2044AA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3338AE-6272-DF05-E6FC-277671FF4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8231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51DA-871A-AA60-DDB5-18D28196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D77B60-A0F2-7ED4-ED34-835864724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736548-08A7-682C-7D78-0AEF8EAFE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62F2F8-04FE-3C5B-9F1E-0044913E3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546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3C7D-6236-7A5D-035B-4B72E9CA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2E44D4-5F2F-D64C-1835-9DA2FEE10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019841-7453-ABDE-7C8F-D2D53CB51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C61BD-9B6F-4C10-5325-0E324515F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4949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9116-ACF2-B41D-E8E0-3B43DAA9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3745AF-CC06-9ECC-8E5B-18F821A87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855EBF-6DA9-CE51-E17B-358D8DE5A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5696A6-2F9F-8594-0D07-E91E1EC91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337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480B-215B-6FAE-DED1-CF1B877C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8F25DF-789C-1444-C0BE-DFED33215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62F274-C9D5-72F3-E769-F7B5EEFCE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1C38E2-D7AB-DDA6-8553-FEB1C8015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8446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146E-E7C5-0D72-4B1B-F2CED9F3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394786-3395-A714-C7D3-A1AB7FF29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052957-95B5-5491-0EB6-284613208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E31F2E-7E94-DAA0-15C9-225EDB71C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2619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2B58-D645-6EEF-967C-E6AC5E1B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5E0052-6722-FBB1-573D-B9A6C1427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08FB8D-BDB6-4461-2735-F0C10321A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D5B079-0AD6-69B0-7139-ED702639A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5234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6F0F-B2A5-B37E-1923-5EF05116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A5E7B0-1906-5A62-725B-A2B88D896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CF1BD-2DD8-3ECF-6DF7-0CCC6E4EF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A8BC6-E477-C21F-FBE3-90B351F23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0661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0A56-F44D-5963-D7BF-F0E32849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AB9BED-ACB9-B529-60A2-BA63F161D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5793C1-EEE5-8AD1-EF22-88399766C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D13EE-9CE8-A269-7DAE-AD99B7B8B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3456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B44F-24BD-839B-3298-E1D56ABD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AFDF4E-1219-18D4-F453-874260A19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144174-69CF-8807-5E31-933B347D8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F3682-5E0B-3862-5FE4-19C309100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499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960E-1251-1840-9C65-72C6C843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A3B252-497F-65E2-B90A-C6822F853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AE805C-A095-5B6A-D063-1B04F538F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329BC1-899C-341C-EB03-250052A1C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3378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592E-A37E-BE02-5AB3-38868626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5DC014-B9BF-F025-0B18-7FB36387E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F639B9-AE05-2AEF-E01D-A6FC0EB62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9E5BD-38CD-E6F3-5860-56C193BDC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A4C61-08CD-449A-9F17-596468FE5960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424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2CCA0-41B5-3FC6-F1FE-77AEA9F5A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3F6B02-4686-7DC3-00B9-8EB3F7B12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B39B71-5CA1-1CD4-450A-3274F608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4446C-2E84-88C7-2ED9-2C27DB6A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2FED62-8354-255A-329E-889C3EE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80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23308-EC7F-0528-B1D2-8E5F9476B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D9DC75-D69F-7593-D944-4DFB16196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8A4DE-2AA2-1A6E-17F0-92E87C18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C970A-881D-902E-FABF-6E4A2B8A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3A75B-713F-7EE2-F9D4-B9076385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7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43A8E-7C79-8C9D-5CFB-1F43E237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718936-60D2-2F7A-9453-BAE862532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06235-DB1F-EB42-46D8-47309397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CEB7AC-82B9-A7D7-2E0A-2839D47C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6D850-9588-654D-3F3E-8DB88755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20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03BDF-9366-F99B-9DBC-C0A64BBF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19231-32A8-F172-CA40-87D98605D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04EBB-B7A5-ED1B-99FE-68F9C4962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45BC97-FF8A-72EA-B159-04484BBE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C8EF3-F30E-62AC-2E05-F9800016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565C74-AB2D-5CF3-035C-C98C0E60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79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68AA-A8AB-0D05-49E5-AD6F410C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F9BEED-0D34-208E-7210-5ED1B8CEA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BA8F2A-E74A-0E78-8076-03FB211F3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55393A-02B3-9552-28FB-BADE1D47F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7A5170-1B4F-4075-8340-4A82EBCBE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D76FFD-32A3-C5C1-2027-0286ED8F9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29E0DA-BC85-B3D1-8377-79309482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64DDED-D935-E167-350D-3E9513C6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7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82608-37E1-4E0C-6C92-DC98CABB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6D4392-10E1-A5B4-CDAF-377CA6A9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DB2206-F993-45DD-6F29-4E96F9F4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C2BB5B-5DF2-49F4-6141-AB23FCAC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89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20F7E7-558F-767B-FA4A-4166274D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B3A07B-6714-A899-E00F-BA9B622C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AF3B23-E078-EB6B-A61E-CD329771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4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6CEE5-64EA-8A77-8ABF-42E8FB79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D3477-38CA-2D15-D258-0254D5C5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A1C227-7B7D-C011-F9F3-1E02F6249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701434-1A83-83F4-3393-C6CBB0CA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780E99-8314-3256-A4DC-7A366D32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72468F-8777-E33C-9000-C41623C6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9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7C3CB-2F9A-E1DA-943C-DB9D54D9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17E42F-BC15-5FE6-1321-4F033981A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77E015-4728-355C-7110-C5B8FD2C2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CC9942-11E6-C6DE-C1FD-99A6BD73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191952-3467-B9B9-23BA-9359B52B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36D094-9570-DB18-60BC-1218458B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1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6DC6E-67D0-BE2D-8865-0B26AB15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407391-E2EE-536A-F957-E8ED7787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6C104-9B8B-3B4B-7379-42CD8FD2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928624-EB90-641A-DBB0-62A84C53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20506-1FC2-658C-9103-93DEDA7C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52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B47ABA-5147-088F-A353-952E2A450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9B2325-7E33-558E-FCAE-176EB7E9E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54571D-D66B-8916-3589-FEDA94CE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C3493-AB7A-652F-897D-21A655C1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E0912-F8B4-5FCD-2507-E1504314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9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FC0DEE-9532-3CED-B85E-8460E99B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FAF3F8-CF1C-A622-FCBE-03B00C66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094DF-3178-20CF-5C97-0754B2AFD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E3D42-A6DF-4E2B-89A4-65BB26EE3A9B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B023A0-04B1-BA15-E2C8-179956879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3F7CD8-21D1-D570-5F7C-1BA7057D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D1CD3-CB64-4603-A81C-DDC75E8C2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94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5C11-0A00-609E-224A-85EC9CF6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290166DE-2EFA-B021-5952-C3B0069CE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17145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1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4F66-B910-644F-E7D5-6F4BDCD2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E156D-0665-E3C2-9C83-5A0E477C0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229" y="3221831"/>
            <a:ext cx="10445805" cy="1059626"/>
          </a:xfrm>
        </p:spPr>
        <p:txBody>
          <a:bodyPr>
            <a:normAutofit fontScale="90000"/>
          </a:bodyPr>
          <a:lstStyle/>
          <a:p>
            <a:pPr algn="l">
              <a:lnSpc>
                <a:spcPct val="110000"/>
              </a:lnSpc>
            </a:pPr>
            <a:br>
              <a:rPr lang="en-US" altLang="zh-CN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zh-CN" altLang="en-US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数学基础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5098A4-D56F-D12F-60D4-66CA7CDB3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29" y="4946072"/>
            <a:ext cx="4502724" cy="884712"/>
          </a:xfrm>
        </p:spPr>
        <p:txBody>
          <a:bodyPr>
            <a:normAutofit/>
          </a:bodyPr>
          <a:lstStyle/>
          <a:p>
            <a:pPr algn="l"/>
            <a:r>
              <a:rPr lang="en-US" altLang="zh-CN" sz="20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Lecture 1 - Mathematics</a:t>
            </a:r>
          </a:p>
          <a:p>
            <a:pPr algn="l"/>
            <a:r>
              <a:rPr lang="zh-CN" alt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布朗尼蛋糕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6BBB4AA6-43F8-0813-6A64-4F85CAA38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818" y="467839"/>
            <a:ext cx="1018063" cy="106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395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25D9-9C4F-1B91-77D7-872B87E0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6C0C2-BED0-EE3E-4E33-D543D4A1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036" y="2484344"/>
            <a:ext cx="6029928" cy="1889312"/>
          </a:xfrm>
        </p:spPr>
        <p:txBody>
          <a:bodyPr>
            <a:normAutofit/>
          </a:bodyPr>
          <a:lstStyle/>
          <a:p>
            <a:r>
              <a:rPr lang="en-US" altLang="zh-CN" sz="5400" i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Linear Algebra</a:t>
            </a:r>
            <a:endParaRPr lang="zh-CN" altLang="en-US" sz="5400" i="1" dirty="0">
              <a:latin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62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860B-279F-5C71-403F-CB1D0A1B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B51D4-E88C-8128-640A-12A0EA70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4" y="2586878"/>
            <a:ext cx="8821271" cy="1684244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Cartesian coordinates</a:t>
            </a:r>
            <a:endParaRPr lang="zh-CN" altLang="en-US" sz="5400" i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82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6C6F-A722-6045-E7E4-3A3C52E7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430E8-767D-3265-D22B-84C9F3A3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130" y="258248"/>
            <a:ext cx="5536870" cy="85803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Cartesian coordinates</a:t>
            </a:r>
            <a:endParaRPr lang="zh-CN" altLang="en-US" sz="2400" b="1" dirty="0">
              <a:latin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4C5FDB7-3433-0408-34A8-9EEE92CC5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1573479"/>
            <a:ext cx="4010429" cy="396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6B9CBB5-C27A-E8AB-A6B6-4A54B0C01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165" y="1612074"/>
            <a:ext cx="4170953" cy="388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00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74E9-DCA1-BA15-3C20-FA9C8228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9EDD1-A635-FFF5-A882-1605B799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449" y="2586878"/>
            <a:ext cx="2705101" cy="1684244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Vector</a:t>
            </a:r>
            <a:endParaRPr lang="zh-CN" altLang="en-US" sz="5400" i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75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B79C-0025-8E58-B63D-A228D08E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E9AE6-2F28-AC21-88C9-A05EC2F4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130" y="258248"/>
            <a:ext cx="5536870" cy="85803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Vector</a:t>
            </a:r>
            <a:endParaRPr lang="zh-CN" altLang="en-US" sz="2400" b="1" dirty="0">
              <a:latin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C6972-C542-8569-FD9B-EA8270E4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30" y="1116281"/>
            <a:ext cx="8091390" cy="4730846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是有长度和大小的量。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Physically speaking, </a:t>
            </a:r>
            <a:r>
              <a:rPr lang="zh-CN" alt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完全没有任何问题。</a:t>
            </a:r>
            <a:endParaRPr lang="en-US" altLang="zh-CN" sz="1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But mathematically speaking: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是向量空间中的一个点。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30000"/>
              </a:lnSpc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或更加“符合主题”一点：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F80DE7-357E-4C8D-A81B-8BF7D8C02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0" y="4547916"/>
            <a:ext cx="6337683" cy="1817257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D8A2A0F8-F23D-6BAA-7841-578DC6DAA10B}"/>
              </a:ext>
            </a:extLst>
          </p:cNvPr>
          <p:cNvSpPr txBox="1">
            <a:spLocks/>
          </p:cNvSpPr>
          <p:nvPr/>
        </p:nvSpPr>
        <p:spPr>
          <a:xfrm>
            <a:off x="6096000" y="5456544"/>
            <a:ext cx="2746077" cy="61084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050" b="1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sym typeface="Wingdings" panose="05000000000000000000" pitchFamily="2" charset="2"/>
              </a:rPr>
              <a:t>&lt;--- </a:t>
            </a:r>
            <a:r>
              <a:rPr lang="zh-CN" altLang="en-US" sz="1050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sym typeface="Wingdings" panose="05000000000000000000" pitchFamily="2" charset="2"/>
              </a:rPr>
              <a:t>我们不需要这个，它只是 </a:t>
            </a:r>
            <a:r>
              <a:rPr lang="en-US" altLang="zh-CN" sz="1050" i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sym typeface="Wingdings" panose="05000000000000000000" pitchFamily="2" charset="2"/>
              </a:rPr>
              <a:t>intellectual masturbation</a:t>
            </a:r>
            <a:endParaRPr lang="en-US" altLang="zh-CN" sz="1050" i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BF86421-3F5E-660D-EEA8-7FA01E375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635" y="1116281"/>
            <a:ext cx="1159758" cy="85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7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D02AE-1E53-58F3-AA83-F4816CD55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29EF3D-3084-55CC-DA36-530E880D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133" y="2642435"/>
            <a:ext cx="5200402" cy="11043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DDDE2A-EE0B-415D-1ECC-55EB5E816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248" y="2836620"/>
            <a:ext cx="853251" cy="71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41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8D81-9AEE-7411-7B92-115D72D9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B88CD50-1DC6-71CC-80A9-DD0905DE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926" y="820271"/>
            <a:ext cx="3945146" cy="5217457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5CB870D-02A0-471D-FC02-C8230517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5963" y="5929929"/>
            <a:ext cx="906012" cy="439387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列向量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34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E36E-F48F-CB6A-0DAC-607D0DE1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21A76F5-D476-FC40-0C3C-26BC669E6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5963" y="5929929"/>
            <a:ext cx="906012" cy="439387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加法律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B7F436-4774-1EF5-DB7A-B6BA8288B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692" y="1109382"/>
            <a:ext cx="8784439" cy="404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0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EF4B-238B-EF5A-A11C-1E84CF91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88C68BE-7618-E7CA-4D30-A45E9198D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783" y="2666500"/>
            <a:ext cx="8204433" cy="1525000"/>
          </a:xfrm>
          <a:prstGeom prst="rect">
            <a:avLst/>
          </a:prstGeom>
        </p:spPr>
      </p:pic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22892FC-F1CE-68B5-9D87-81165190B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5788" y="5929929"/>
            <a:ext cx="1686187" cy="439387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范数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/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长度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548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70A9-1BE3-BF52-35C1-6ED991B7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C04E0B-6F39-D7F2-A88F-17DE19EDF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336" y="2186313"/>
            <a:ext cx="8741328" cy="2065925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F4952CF-1E57-1F6F-52DA-E88B80F8FEED}"/>
              </a:ext>
            </a:extLst>
          </p:cNvPr>
          <p:cNvSpPr txBox="1">
            <a:spLocks/>
          </p:cNvSpPr>
          <p:nvPr/>
        </p:nvSpPr>
        <p:spPr>
          <a:xfrm>
            <a:off x="9915788" y="5929929"/>
            <a:ext cx="1686187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范数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/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长度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06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725D-057E-DE0F-4C0D-1EFF3E22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7530316-44EB-8639-BDE8-51BE592C99C1}"/>
              </a:ext>
            </a:extLst>
          </p:cNvPr>
          <p:cNvSpPr txBox="1">
            <a:spLocks/>
          </p:cNvSpPr>
          <p:nvPr/>
        </p:nvSpPr>
        <p:spPr>
          <a:xfrm>
            <a:off x="10863743" y="5929929"/>
            <a:ext cx="738232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距离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1DD9780-1F12-275B-6756-B976FCC82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72" y="726010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17E66A9-9378-F9BB-FC12-0989FA801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439" y="1720980"/>
            <a:ext cx="6591156" cy="6858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4C1C6DC-BD60-03E9-E708-1F22C4793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622" y="3669807"/>
            <a:ext cx="7214532" cy="156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7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F3E6D-EDF4-C0ED-2323-68A3293F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7B15AD3-C197-085B-9520-446CAEF305E2}"/>
              </a:ext>
            </a:extLst>
          </p:cNvPr>
          <p:cNvSpPr txBox="1">
            <a:spLocks/>
          </p:cNvSpPr>
          <p:nvPr/>
        </p:nvSpPr>
        <p:spPr>
          <a:xfrm>
            <a:off x="10863743" y="5929929"/>
            <a:ext cx="738232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数乘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0BF53B-46EE-1DE6-0B73-4C60216BB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92" y="1531143"/>
            <a:ext cx="4214893" cy="356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F3A5F25-90EB-48CC-B434-75BB7DB5C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102" y="874059"/>
            <a:ext cx="4414641" cy="25549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9892E5-9D3B-6400-A0EB-730F0346C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517" y="3825690"/>
            <a:ext cx="3777153" cy="169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81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7267-AC8D-903E-FDBA-717AF42E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D10DFFE-7830-7D5F-DDBB-B24F44F28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541" y="2400167"/>
            <a:ext cx="3038470" cy="205766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EDCAD2C-9CD5-D4D1-B354-FA8151BE9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989" y="19050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B2E710BE-E323-8E33-75CE-D7186E1C5D80}"/>
              </a:ext>
            </a:extLst>
          </p:cNvPr>
          <p:cNvSpPr txBox="1">
            <a:spLocks/>
          </p:cNvSpPr>
          <p:nvPr/>
        </p:nvSpPr>
        <p:spPr>
          <a:xfrm>
            <a:off x="10687574" y="5929929"/>
            <a:ext cx="914401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单位化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308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D5392-2C31-CC88-DA8E-C366BDC7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71B1E884-7216-CA37-7508-030618245994}"/>
              </a:ext>
            </a:extLst>
          </p:cNvPr>
          <p:cNvSpPr txBox="1">
            <a:spLocks/>
          </p:cNvSpPr>
          <p:nvPr/>
        </p:nvSpPr>
        <p:spPr>
          <a:xfrm>
            <a:off x="10687574" y="5929929"/>
            <a:ext cx="914401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单位化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2BF5A33-D266-2FBD-1247-0B8677796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814" y="1355506"/>
            <a:ext cx="5967451" cy="185755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FF1AECB-6A8D-7979-5190-5E67D9167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163" y="3644942"/>
            <a:ext cx="4690752" cy="128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06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49B3-5DA1-0215-9473-6E26E8F1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70A896-A979-B523-69B8-E448994D4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442" y="2545984"/>
            <a:ext cx="4690752" cy="1285613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FD44F00-BAFE-8734-208B-7FF056B090D1}"/>
              </a:ext>
            </a:extLst>
          </p:cNvPr>
          <p:cNvCxnSpPr>
            <a:cxnSpLocks/>
          </p:cNvCxnSpPr>
          <p:nvPr/>
        </p:nvCxnSpPr>
        <p:spPr>
          <a:xfrm flipH="1">
            <a:off x="7290033" y="2374084"/>
            <a:ext cx="58724" cy="687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8B0E3A2-3FA3-CAA0-5088-8EABEACBE1C7}"/>
              </a:ext>
            </a:extLst>
          </p:cNvPr>
          <p:cNvSpPr txBox="1">
            <a:spLocks/>
          </p:cNvSpPr>
          <p:nvPr/>
        </p:nvSpPr>
        <p:spPr>
          <a:xfrm>
            <a:off x="6937697" y="1778466"/>
            <a:ext cx="1243774" cy="59561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内积</a:t>
            </a:r>
            <a:endParaRPr lang="en-US" altLang="zh-CN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03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AB4D-D603-29A8-8F32-940CF5F3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1424358-506C-6390-E133-A0533BF15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11" y="814335"/>
            <a:ext cx="7625593" cy="24958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84E1A0-02DB-4B46-8AED-D9A14F44E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89" y="4000805"/>
            <a:ext cx="2869036" cy="1425263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E5CF0EA-B1F7-4EDA-6B8B-B167825411D1}"/>
              </a:ext>
            </a:extLst>
          </p:cNvPr>
          <p:cNvSpPr txBox="1">
            <a:spLocks/>
          </p:cNvSpPr>
          <p:nvPr/>
        </p:nvSpPr>
        <p:spPr>
          <a:xfrm>
            <a:off x="10687574" y="5929929"/>
            <a:ext cx="914401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内积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76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2A0E-7B41-3E63-FB8F-31302590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5147C4F-F4EA-B6AB-27AC-7C57C1BD24C9}"/>
              </a:ext>
            </a:extLst>
          </p:cNvPr>
          <p:cNvSpPr txBox="1">
            <a:spLocks/>
          </p:cNvSpPr>
          <p:nvPr/>
        </p:nvSpPr>
        <p:spPr>
          <a:xfrm>
            <a:off x="10033233" y="5929929"/>
            <a:ext cx="1568742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内积作为投影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9562F5AD-AD3B-8385-2538-02093DFBA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35" y="1336994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863F8730-C3A3-1DCC-E242-1C7835721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73" y="2408556"/>
            <a:ext cx="321945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7ACF94D2-4135-1778-12DE-A729BB031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633" y="2381292"/>
            <a:ext cx="27432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681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24A5-DF3E-BDA1-69D5-809B65E34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675D4EF-6498-C03C-6BA6-1896218A8715}"/>
              </a:ext>
            </a:extLst>
          </p:cNvPr>
          <p:cNvSpPr txBox="1">
            <a:spLocks/>
          </p:cNvSpPr>
          <p:nvPr/>
        </p:nvSpPr>
        <p:spPr>
          <a:xfrm>
            <a:off x="9580225" y="5921540"/>
            <a:ext cx="2080471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geometrically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15C5DD-01A5-22EF-3121-40C8719D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683" y="2721299"/>
            <a:ext cx="5742633" cy="91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20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9CD1-D5B7-D3C5-7FDE-22DF6AB2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7FEA2D0-6FC7-96D1-EAC4-91C7357A526F}"/>
              </a:ext>
            </a:extLst>
          </p:cNvPr>
          <p:cNvSpPr txBox="1">
            <a:spLocks/>
          </p:cNvSpPr>
          <p:nvPr/>
        </p:nvSpPr>
        <p:spPr>
          <a:xfrm>
            <a:off x="10268125" y="5955095"/>
            <a:ext cx="1409350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内积与范数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27D6B0-EC9B-81E2-F2D9-BBEB1C24A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83" y="2747672"/>
            <a:ext cx="7551190" cy="100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45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95612-7150-36F8-B09A-F5AD952B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DA0C9FA-0499-C6E6-478F-F8E5C36BB71C}"/>
              </a:ext>
            </a:extLst>
          </p:cNvPr>
          <p:cNvSpPr txBox="1">
            <a:spLocks/>
          </p:cNvSpPr>
          <p:nvPr/>
        </p:nvSpPr>
        <p:spPr>
          <a:xfrm>
            <a:off x="10956021" y="5955095"/>
            <a:ext cx="72145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叉积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1238E6B9-95F8-E269-1E88-413FE0E1D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031" y="541231"/>
            <a:ext cx="238125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undefined">
            <a:extLst>
              <a:ext uri="{FF2B5EF4-FFF2-40B4-BE49-F238E27FC236}">
                <a16:creationId xmlns:a16="http://schemas.microsoft.com/office/drawing/2014/main" id="{64B510FD-90B0-DD23-3B26-530B8D6F4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496" y="1585835"/>
            <a:ext cx="3793930" cy="343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771124E-F25B-A14B-225F-BF612C543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248" y="5356434"/>
            <a:ext cx="4613944" cy="7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12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A3EB-6742-E986-ABA1-28B7CEE5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1955BA9-457A-6C55-DFE6-EC30FDD27C5C}"/>
              </a:ext>
            </a:extLst>
          </p:cNvPr>
          <p:cNvSpPr txBox="1">
            <a:spLocks/>
          </p:cNvSpPr>
          <p:nvPr/>
        </p:nvSpPr>
        <p:spPr>
          <a:xfrm>
            <a:off x="10956021" y="5955095"/>
            <a:ext cx="72145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叉积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FBEBEBC-FF44-62AA-B2A2-F1AF285C0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60" y="1263941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F7A76E-4AE9-58B9-8589-B8BE1227F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74351"/>
            <a:ext cx="4613944" cy="7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25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BCEC-6A5C-0DE0-3631-DA3B8ACD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43B50-6D16-AE74-4C6A-503398B4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449" y="2586878"/>
            <a:ext cx="2705101" cy="1684244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Matrix</a:t>
            </a:r>
            <a:endParaRPr lang="zh-CN" altLang="en-US" sz="5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4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ABCF-76B4-2169-C11D-016C7832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4C082-FC6C-D2AE-BBF2-E9863955B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130" y="258248"/>
            <a:ext cx="5536870" cy="85803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Matrix</a:t>
            </a:r>
            <a:endParaRPr lang="zh-CN" altLang="en-US" sz="2400" b="1" dirty="0">
              <a:latin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A8C16-3773-071D-A91A-AEF1E1B4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30" y="1116280"/>
            <a:ext cx="8091390" cy="5244179"/>
          </a:xfrm>
          <a:noFill/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Tx/>
              <a:buChar char="-"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我们已经知道了向量长这样：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30000"/>
              </a:lnSpc>
              <a:buFontTx/>
              <a:buChar char="-"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30000"/>
              </a:lnSpc>
              <a:buFontTx/>
              <a:buChar char="-"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30000"/>
              </a:lnSpc>
              <a:buFontTx/>
              <a:buChar char="-"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30000"/>
              </a:lnSpc>
              <a:buFontTx/>
              <a:buChar char="-"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矩阵就是 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expand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了一下，变成了一个数表：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上面的矩阵是一个 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3x3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（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阶）单位矩阵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向量就是一种特殊的矩阵，行数或列数为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。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CEA9BB-AA93-4ED2-FB06-3BF42B06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489" y="687264"/>
            <a:ext cx="2652570" cy="14155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DC9C4B-C39B-DEF5-FB5D-A20BF6D7A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248" y="2655236"/>
            <a:ext cx="1406488" cy="130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7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05AA-A2C7-C898-C6F4-E338C425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20F8A32-278E-5628-E513-7D2825A7669E}"/>
              </a:ext>
            </a:extLst>
          </p:cNvPr>
          <p:cNvSpPr txBox="1">
            <a:spLocks/>
          </p:cNvSpPr>
          <p:nvPr/>
        </p:nvSpPr>
        <p:spPr>
          <a:xfrm>
            <a:off x="10986247" y="5955095"/>
            <a:ext cx="691228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转置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19F5AD-4304-F221-E47F-E540389B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40" y="1449492"/>
            <a:ext cx="5722320" cy="23680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62F1D1-E13A-E8FA-5995-85BBAD033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556" y="428269"/>
            <a:ext cx="1952888" cy="566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BDC977-1852-3130-F493-028E14A52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515" y="4272709"/>
            <a:ext cx="6420970" cy="179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73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060F-57A0-40E8-EA95-9E1636C5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8CD6506-E877-30DC-1FD0-D3637B3DFADC}"/>
              </a:ext>
            </a:extLst>
          </p:cNvPr>
          <p:cNvSpPr txBox="1">
            <a:spLocks/>
          </p:cNvSpPr>
          <p:nvPr/>
        </p:nvSpPr>
        <p:spPr>
          <a:xfrm>
            <a:off x="9863417" y="5955095"/>
            <a:ext cx="1814057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标量与矩阵数乘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182B0E-0A1B-36EE-81AC-7D1A3D727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277" y="1889311"/>
            <a:ext cx="9447127" cy="253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62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78404-0BC0-6395-76A7-86AA4C23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559634A-CE92-FB3C-4DE4-1503F19751D4}"/>
              </a:ext>
            </a:extLst>
          </p:cNvPr>
          <p:cNvSpPr txBox="1">
            <a:spLocks/>
          </p:cNvSpPr>
          <p:nvPr/>
        </p:nvSpPr>
        <p:spPr>
          <a:xfrm>
            <a:off x="10576112" y="5955095"/>
            <a:ext cx="1101362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矩阵乘法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452549-D22E-20BF-3618-16BF98F7E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374" y="565606"/>
            <a:ext cx="48482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C0B707-0C9A-69F5-B403-B0E542321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518" y="2795589"/>
            <a:ext cx="2192678" cy="114579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B756157-8B97-95C3-F251-8C482DA4E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11" y="3618110"/>
            <a:ext cx="37909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418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DC2B-2F1F-E90D-39F5-10009B9F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40C6765-0405-5021-C7B5-1855D36A8D73}"/>
              </a:ext>
            </a:extLst>
          </p:cNvPr>
          <p:cNvSpPr txBox="1">
            <a:spLocks/>
          </p:cNvSpPr>
          <p:nvPr/>
        </p:nvSpPr>
        <p:spPr>
          <a:xfrm>
            <a:off x="10576112" y="5955095"/>
            <a:ext cx="1101362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矩阵乘法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8011EB-702E-D0A3-F262-74322FF3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365" y="1397530"/>
            <a:ext cx="8711269" cy="353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01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5302B-40BF-4D67-80A7-B0DDC896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C2E519F-BD5C-B9BC-87D5-1727679D4DE6}"/>
              </a:ext>
            </a:extLst>
          </p:cNvPr>
          <p:cNvSpPr txBox="1">
            <a:spLocks/>
          </p:cNvSpPr>
          <p:nvPr/>
        </p:nvSpPr>
        <p:spPr>
          <a:xfrm>
            <a:off x="10804712" y="5955095"/>
            <a:ext cx="872762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线性性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70390F-ADF6-0C26-7B8C-78010C1D9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111" y="3249183"/>
            <a:ext cx="5289778" cy="63029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E01FF29-6701-CC63-C985-C371FFBE8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172" y="2211242"/>
            <a:ext cx="5338482" cy="76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72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89B1-D9E2-DF2F-8064-668E84FE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F853C-8E18-7862-FB5C-FDD7E441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668" y="2586878"/>
            <a:ext cx="4042663" cy="1684244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矩阵 </a:t>
            </a:r>
            <a:r>
              <a:rPr lang="en-US" altLang="zh-CN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= </a:t>
            </a:r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映射</a:t>
            </a:r>
          </a:p>
        </p:txBody>
      </p:sp>
    </p:spTree>
    <p:extLst>
      <p:ext uri="{BB962C8B-B14F-4D97-AF65-F5344CB8AC3E}">
        <p14:creationId xmlns:p14="http://schemas.microsoft.com/office/powerpoint/2010/main" val="2959863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5D9D-3DFD-E44F-F214-8122829E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9401C61-9D90-7DC2-6955-F4DC7269A23F}"/>
              </a:ext>
            </a:extLst>
          </p:cNvPr>
          <p:cNvSpPr txBox="1">
            <a:spLocks/>
          </p:cNvSpPr>
          <p:nvPr/>
        </p:nvSpPr>
        <p:spPr>
          <a:xfrm>
            <a:off x="10569388" y="5955095"/>
            <a:ext cx="1108086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线性映射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5595C5-1437-FAA2-183E-54E831F77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56" y="2980173"/>
            <a:ext cx="2341586" cy="6236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775891-CDFC-5A07-916F-6C64BF567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172" y="2370651"/>
            <a:ext cx="5641041" cy="9213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7373B6-936A-C9C8-63A4-922AF2478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865" y="3429000"/>
            <a:ext cx="3247464" cy="79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15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42BA-ACF1-6434-AA6C-1D8C5FC1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2259974-394E-B11B-D59F-85CE9996A068}"/>
              </a:ext>
            </a:extLst>
          </p:cNvPr>
          <p:cNvSpPr txBox="1">
            <a:spLocks/>
          </p:cNvSpPr>
          <p:nvPr/>
        </p:nvSpPr>
        <p:spPr>
          <a:xfrm>
            <a:off x="10569388" y="5955095"/>
            <a:ext cx="1108086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线性映射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8D533B7-962F-0BF4-0EC5-C31E090F0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00" y="552024"/>
            <a:ext cx="42862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7B3C20-87E5-71BF-D138-520B417AA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60" y="5368890"/>
            <a:ext cx="4136090" cy="7017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AC474A-F9AB-6992-19A3-98094F4D3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670" y="2466461"/>
            <a:ext cx="5524018" cy="130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24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AA17-D93C-3DAC-D2D8-FF8B5994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DFA5680-738B-1699-941E-BB4B0AD96895}"/>
              </a:ext>
            </a:extLst>
          </p:cNvPr>
          <p:cNvSpPr txBox="1">
            <a:spLocks/>
          </p:cNvSpPr>
          <p:nvPr/>
        </p:nvSpPr>
        <p:spPr>
          <a:xfrm>
            <a:off x="10569388" y="5955095"/>
            <a:ext cx="1108086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线性映射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F3FD26-CCF5-D5D8-08D4-0EB166B1B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10" y="636370"/>
            <a:ext cx="4856796" cy="16834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D80C3A-4752-30DD-C7D2-C1C322F98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279" y="2735870"/>
            <a:ext cx="6555441" cy="16834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89E6AA5-7138-E6DF-514F-6A81457D96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033" y="4835369"/>
            <a:ext cx="5257934" cy="55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56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87E71-2F1D-9F8C-8DCF-4BC7E2E1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19A618D-83E3-AE98-DF97-959B24713C3B}"/>
              </a:ext>
            </a:extLst>
          </p:cNvPr>
          <p:cNvSpPr txBox="1">
            <a:spLocks/>
          </p:cNvSpPr>
          <p:nvPr/>
        </p:nvSpPr>
        <p:spPr>
          <a:xfrm>
            <a:off x="10569388" y="5955095"/>
            <a:ext cx="1108086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线性映射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24F597D-7868-E186-2AC2-03D518EC6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334" y="3429000"/>
            <a:ext cx="5925332" cy="6236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0FE9C19-A986-159E-D442-7D4246DC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207" y="2444735"/>
            <a:ext cx="2341586" cy="62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46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5E9A-5E83-A919-D99F-7DE2D69A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D82B7A3-C74D-15FC-F394-23523EB9B541}"/>
              </a:ext>
            </a:extLst>
          </p:cNvPr>
          <p:cNvSpPr txBox="1">
            <a:spLocks/>
          </p:cNvSpPr>
          <p:nvPr/>
        </p:nvSpPr>
        <p:spPr>
          <a:xfrm>
            <a:off x="10327341" y="5955095"/>
            <a:ext cx="135013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映射的性质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301777-56FB-04F0-6EDD-77BF8C7AE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614" y="2341630"/>
            <a:ext cx="2414771" cy="7009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01424C2-3C91-2C0A-4F4D-39C5D0C09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738" y="3423569"/>
            <a:ext cx="3914522" cy="78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88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1B0C-7085-8336-77EF-0EC9B955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3B406-23FB-6596-4161-B207C7B6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670" y="2586878"/>
            <a:ext cx="6436659" cy="1684244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矩阵 </a:t>
            </a:r>
            <a:r>
              <a:rPr lang="en-US" altLang="zh-CN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= </a:t>
            </a:r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映射 </a:t>
            </a:r>
            <a:r>
              <a:rPr lang="en-US" altLang="zh-CN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= </a:t>
            </a:r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821D5-4827-F17D-3087-9BE368D8DED3}"/>
              </a:ext>
            </a:extLst>
          </p:cNvPr>
          <p:cNvSpPr txBox="1">
            <a:spLocks/>
          </p:cNvSpPr>
          <p:nvPr/>
        </p:nvSpPr>
        <p:spPr>
          <a:xfrm>
            <a:off x="8760760" y="6071347"/>
            <a:ext cx="2965076" cy="26894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右侧等号可在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《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高等数学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》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上册第一章找到说明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417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66027-A537-1C56-99E9-9791CF2DB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95F77B1-9C43-4210-DC2C-3B790E6F0614}"/>
              </a:ext>
            </a:extLst>
          </p:cNvPr>
          <p:cNvSpPr txBox="1">
            <a:spLocks/>
          </p:cNvSpPr>
          <p:nvPr/>
        </p:nvSpPr>
        <p:spPr>
          <a:xfrm>
            <a:off x="9386047" y="5955095"/>
            <a:ext cx="2291427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图形渲染的各种变换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60F734B-2592-886A-3787-AEA4841A9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70" y="397017"/>
            <a:ext cx="2805237" cy="299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96D73CEF-0F97-1AC5-90A6-144530E50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71" y="3828656"/>
            <a:ext cx="3209050" cy="256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9B681F-E4C8-29C6-F670-C7F3622D5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935" y="4079130"/>
            <a:ext cx="4861112" cy="187596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2F341F0-F266-DE37-30B5-7469E8630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203" y="830406"/>
            <a:ext cx="250507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41645A8-7FB8-13B8-F56A-517502DF6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799" y="582196"/>
            <a:ext cx="5579412" cy="280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19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FCFC-8EB9-E6BE-0A78-3616AE5B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5CD61-3ED0-9006-0750-72A0A163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64" y="2586878"/>
            <a:ext cx="4020671" cy="1684244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线性变换 </a:t>
            </a:r>
            <a:r>
              <a:rPr lang="zh-CN" altLang="en-US" sz="5400" b="1" dirty="0">
                <a:latin typeface="Noto Sans SC Black" panose="020B0200000000000000" pitchFamily="34" charset="-122"/>
                <a:ea typeface="Noto Sans SC Black" panose="020B0200000000000000" pitchFamily="34" charset="-122"/>
                <a:cs typeface="JetBrains Mono NL" panose="02000009000000000000" pitchFamily="49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529098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0B5ED-DB0A-59F8-FAE2-A929C8BF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76CC5-9538-82E8-DF8B-63B8EA18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870" y="2586878"/>
            <a:ext cx="4020671" cy="1684244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线性变换 </a:t>
            </a:r>
            <a:r>
              <a:rPr lang="zh-CN" altLang="en-US" sz="5400" b="1" dirty="0">
                <a:latin typeface="Noto Sans SC Black" panose="020B0200000000000000" pitchFamily="34" charset="-122"/>
                <a:ea typeface="Noto Sans SC Black" panose="020B0200000000000000" pitchFamily="34" charset="-122"/>
                <a:cs typeface="JetBrains Mono NL" panose="02000009000000000000" pitchFamily="49" charset="0"/>
              </a:rPr>
              <a:t>？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7AA0321-B14F-8A1F-C700-CB48411CF346}"/>
              </a:ext>
            </a:extLst>
          </p:cNvPr>
          <p:cNvSpPr txBox="1">
            <a:spLocks/>
          </p:cNvSpPr>
          <p:nvPr/>
        </p:nvSpPr>
        <p:spPr>
          <a:xfrm>
            <a:off x="6593541" y="2586878"/>
            <a:ext cx="3321426" cy="1684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JetBrains Mono" panose="02000009000000000000" pitchFamily="49" charset="0"/>
              </a:rPr>
              <a:t>不一定 </a:t>
            </a:r>
            <a:r>
              <a:rPr lang="zh-CN" altLang="en-US" sz="5400" b="1" dirty="0">
                <a:latin typeface="Noto Sans SC Black" panose="020B0200000000000000" pitchFamily="34" charset="-122"/>
                <a:ea typeface="Noto Sans SC Black" panose="020B0200000000000000" pitchFamily="34" charset="-122"/>
                <a:cs typeface="JetBrains Mono" panose="02000009000000000000" pitchFamily="49" charset="0"/>
              </a:rPr>
              <a:t>！</a:t>
            </a:r>
            <a:endParaRPr lang="zh-CN" altLang="en-US" sz="5400" b="1" dirty="0">
              <a:latin typeface="Noto Sans SC Black" panose="020B0200000000000000" pitchFamily="34" charset="-122"/>
              <a:ea typeface="Noto Sans SC Black" panose="020B0200000000000000" pitchFamily="34" charset="-122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265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43C71-2E45-C5BA-4B96-88802373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F7544-0036-9A07-0997-10045A2B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244" y="2586878"/>
            <a:ext cx="8823512" cy="1684244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Affine Transformation</a:t>
            </a:r>
            <a:endParaRPr lang="zh-CN" altLang="en-US" sz="5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64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792E-009A-0EB2-F5AF-DC569BBD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93A72D9-6250-7607-7C14-11C8A6D453D1}"/>
              </a:ext>
            </a:extLst>
          </p:cNvPr>
          <p:cNvSpPr txBox="1">
            <a:spLocks/>
          </p:cNvSpPr>
          <p:nvPr/>
        </p:nvSpPr>
        <p:spPr>
          <a:xfrm>
            <a:off x="10065124" y="5955095"/>
            <a:ext cx="1612350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各种线性变换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79EA2-484F-8486-0095-E6DBD703E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91" y="766241"/>
            <a:ext cx="2805237" cy="299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6A0D6AF-C25A-DA6D-FCF0-56DEB4626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78" y="1131916"/>
            <a:ext cx="3209050" cy="256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F0F26A15-AB6E-17FC-614B-E3278E5F1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978" y="1192667"/>
            <a:ext cx="250507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6D90DFF-0EB2-43D0-E086-3214173DC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139" y="4706254"/>
            <a:ext cx="1786837" cy="585163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39018ED-A533-61BE-82E4-83F2BB55269F}"/>
              </a:ext>
            </a:extLst>
          </p:cNvPr>
          <p:cNvSpPr txBox="1">
            <a:spLocks/>
          </p:cNvSpPr>
          <p:nvPr/>
        </p:nvSpPr>
        <p:spPr>
          <a:xfrm>
            <a:off x="5167383" y="5286697"/>
            <a:ext cx="1352348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原点不变性</a:t>
            </a:r>
            <a:endParaRPr lang="en-US" altLang="zh-CN" sz="1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27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45F9E-9E29-9091-3956-F2FE424A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6021992-2BA1-C78F-7FD6-93E175CA6B50}"/>
              </a:ext>
            </a:extLst>
          </p:cNvPr>
          <p:cNvSpPr txBox="1">
            <a:spLocks/>
          </p:cNvSpPr>
          <p:nvPr/>
        </p:nvSpPr>
        <p:spPr>
          <a:xfrm>
            <a:off x="10065124" y="5955095"/>
            <a:ext cx="1612350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各种线性变换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ADF10B-F2A2-5493-E6E8-45B2DA8AF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91" y="766241"/>
            <a:ext cx="2805237" cy="299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C3C5DB4-A092-4DDC-6841-04309FC8B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78" y="1131916"/>
            <a:ext cx="3209050" cy="256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938081FB-2850-9F66-2F7A-4A256EB9D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978" y="1192667"/>
            <a:ext cx="250507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C4D1601-0155-DAD6-9C0B-C7908EDC71F9}"/>
              </a:ext>
            </a:extLst>
          </p:cNvPr>
          <p:cNvSpPr txBox="1">
            <a:spLocks/>
          </p:cNvSpPr>
          <p:nvPr/>
        </p:nvSpPr>
        <p:spPr>
          <a:xfrm>
            <a:off x="851647" y="4266867"/>
            <a:ext cx="3068169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由线性映射的定义：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0A41D3F-E622-14B5-5A0A-06E8B2B04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019" y="4295727"/>
            <a:ext cx="4484595" cy="4873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1B04275-7381-60A9-8384-0F07EE061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8855" y="5020412"/>
            <a:ext cx="1799952" cy="45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1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AC674-B4B4-A5C4-1CF5-3BE971D6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63481AE-0F41-E999-54F2-76F550FA19AC}"/>
              </a:ext>
            </a:extLst>
          </p:cNvPr>
          <p:cNvSpPr txBox="1">
            <a:spLocks/>
          </p:cNvSpPr>
          <p:nvPr/>
        </p:nvSpPr>
        <p:spPr>
          <a:xfrm>
            <a:off x="10475259" y="5955095"/>
            <a:ext cx="1202214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平移变换？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23FED4-31F1-182D-5C02-C1B2B453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39" y="4706254"/>
            <a:ext cx="1786837" cy="5851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B66724-E2EF-7D18-B4CD-43CB16E22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87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70B3-245F-DA83-E9E8-338B95EE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31344B7-11C8-B4F7-4803-4CEECB6CA82D}"/>
              </a:ext>
            </a:extLst>
          </p:cNvPr>
          <p:cNvSpPr txBox="1">
            <a:spLocks/>
          </p:cNvSpPr>
          <p:nvPr/>
        </p:nvSpPr>
        <p:spPr>
          <a:xfrm>
            <a:off x="10535770" y="5955095"/>
            <a:ext cx="114170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仿射变换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AD76DB-07CF-2B22-749F-CF7163981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39" y="4706254"/>
            <a:ext cx="1786837" cy="585163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EA67E50-41C2-59EB-0801-D2B518E9D544}"/>
              </a:ext>
            </a:extLst>
          </p:cNvPr>
          <p:cNvSpPr txBox="1">
            <a:spLocks/>
          </p:cNvSpPr>
          <p:nvPr/>
        </p:nvSpPr>
        <p:spPr>
          <a:xfrm>
            <a:off x="5145947" y="4113544"/>
            <a:ext cx="1664161" cy="160581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80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❌</a:t>
            </a:r>
            <a:endParaRPr lang="en-US" altLang="zh-CN" sz="80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0C6FBD1-DFFA-8F07-951F-62E4282F2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23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695A-8FB5-B298-A826-DDB9AE98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A9AFEF5-C875-6D0C-D659-8BAB683CB9F6}"/>
              </a:ext>
            </a:extLst>
          </p:cNvPr>
          <p:cNvSpPr txBox="1">
            <a:spLocks/>
          </p:cNvSpPr>
          <p:nvPr/>
        </p:nvSpPr>
        <p:spPr>
          <a:xfrm>
            <a:off x="10535770" y="5955095"/>
            <a:ext cx="114170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仿射变换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90965E-7CA9-12D3-DF39-F6E87EBC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7C214A7-6F01-2C31-3D1E-8774BCEED3F1}"/>
              </a:ext>
            </a:extLst>
          </p:cNvPr>
          <p:cNvSpPr txBox="1">
            <a:spLocks/>
          </p:cNvSpPr>
          <p:nvPr/>
        </p:nvSpPr>
        <p:spPr>
          <a:xfrm>
            <a:off x="4307538" y="4621595"/>
            <a:ext cx="2691654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并且不满足：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4AEBE4F-1759-9B2F-4F6A-E587F1334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194" y="4608148"/>
            <a:ext cx="1949823" cy="47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53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160E4-A699-4989-BDB6-A83702B15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0D25ACF-946B-911D-43B4-FC980F812039}"/>
              </a:ext>
            </a:extLst>
          </p:cNvPr>
          <p:cNvSpPr txBox="1">
            <a:spLocks/>
          </p:cNvSpPr>
          <p:nvPr/>
        </p:nvSpPr>
        <p:spPr>
          <a:xfrm>
            <a:off x="10535770" y="5955095"/>
            <a:ext cx="114170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仿射变换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4455AF8-CD66-56DC-0944-A5E2A8455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E11E9-7487-6394-848B-097C5BC5C64F}"/>
              </a:ext>
            </a:extLst>
          </p:cNvPr>
          <p:cNvSpPr txBox="1">
            <a:spLocks/>
          </p:cNvSpPr>
          <p:nvPr/>
        </p:nvSpPr>
        <p:spPr>
          <a:xfrm>
            <a:off x="4307538" y="4621595"/>
            <a:ext cx="2691654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并且不满足：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29948F-1BAF-6926-766B-55FEA4140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194" y="4608148"/>
            <a:ext cx="1949823" cy="477193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B183DC0-3EF8-3FA3-420D-FFB959CD5CA4}"/>
              </a:ext>
            </a:extLst>
          </p:cNvPr>
          <p:cNvSpPr txBox="1">
            <a:spLocks/>
          </p:cNvSpPr>
          <p:nvPr/>
        </p:nvSpPr>
        <p:spPr>
          <a:xfrm>
            <a:off x="5999024" y="3985797"/>
            <a:ext cx="1664161" cy="160581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80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❌</a:t>
            </a:r>
            <a:endParaRPr lang="en-US" altLang="zh-CN" sz="80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9011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1A16-1246-2365-1016-B33E43C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3EF4E14-FE9D-EC31-5F71-04AF3786897A}"/>
              </a:ext>
            </a:extLst>
          </p:cNvPr>
          <p:cNvSpPr txBox="1">
            <a:spLocks/>
          </p:cNvSpPr>
          <p:nvPr/>
        </p:nvSpPr>
        <p:spPr>
          <a:xfrm>
            <a:off x="10535770" y="5955095"/>
            <a:ext cx="114170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仿射变换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AC3C03-8711-73BC-3CBD-A95133FB4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3A7A1-2FDB-4B7F-B304-29BDC13FFAA0}"/>
              </a:ext>
            </a:extLst>
          </p:cNvPr>
          <p:cNvSpPr txBox="1">
            <a:spLocks/>
          </p:cNvSpPr>
          <p:nvPr/>
        </p:nvSpPr>
        <p:spPr>
          <a:xfrm>
            <a:off x="2050510" y="4140884"/>
            <a:ext cx="6071514" cy="235776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证明：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			</a:t>
            </a:r>
            <a:r>
              <a:rPr lang="zh-CN" altLang="en-US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显然不相等</a:t>
            </a:r>
            <a:r>
              <a:rPr lang="en-US" altLang="zh-CN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B59E73-2C6E-C4B4-2530-221715844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682" y="4150614"/>
            <a:ext cx="1937472" cy="4765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6913AE-C429-71D9-FDD7-5580DAC51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636" y="4683387"/>
            <a:ext cx="4098267" cy="5488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4F1F4F5-8F8F-323E-F2D8-ABB3E219A5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636" y="5319765"/>
            <a:ext cx="2508006" cy="51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79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F6E2B-454B-69A2-16DC-9F722CFA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F8B7329-2E65-8CB7-58B0-D8BFCD497E90}"/>
              </a:ext>
            </a:extLst>
          </p:cNvPr>
          <p:cNvSpPr txBox="1">
            <a:spLocks/>
          </p:cNvSpPr>
          <p:nvPr/>
        </p:nvSpPr>
        <p:spPr>
          <a:xfrm>
            <a:off x="10535770" y="5955095"/>
            <a:ext cx="1141703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仿射变换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7B340C-861D-52C4-7C07-51C3FB2E2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F4F8D-F6F3-593E-B8ED-F1FFE6BC2E08}"/>
              </a:ext>
            </a:extLst>
          </p:cNvPr>
          <p:cNvSpPr txBox="1">
            <a:spLocks/>
          </p:cNvSpPr>
          <p:nvPr/>
        </p:nvSpPr>
        <p:spPr>
          <a:xfrm>
            <a:off x="3071886" y="4579985"/>
            <a:ext cx="6540957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问题：无法用一个 </a:t>
            </a:r>
            <a:r>
              <a:rPr lang="en-US" altLang="zh-CN" sz="1800" b="1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n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阶矩阵来表示 </a:t>
            </a:r>
            <a:r>
              <a:rPr lang="en-US" altLang="zh-CN" sz="1800" b="1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n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维空间下的仿射变换。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E17A1C-DE7C-ACAA-49CC-85499D741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719" y="5121966"/>
            <a:ext cx="3508562" cy="55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459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7429-019D-5051-4185-E9CCB8AD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4539B453-0895-6C2F-958A-36AF24919FC6}"/>
              </a:ext>
            </a:extLst>
          </p:cNvPr>
          <p:cNvSpPr txBox="1">
            <a:spLocks/>
          </p:cNvSpPr>
          <p:nvPr/>
        </p:nvSpPr>
        <p:spPr>
          <a:xfrm>
            <a:off x="1259820" y="2586878"/>
            <a:ext cx="9672359" cy="1684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Homogeneous coordinates</a:t>
            </a:r>
            <a:endParaRPr lang="zh-CN" altLang="en-US" sz="5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64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D4C7E-CDC6-9644-89AA-0C6F7330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2FCF038-34A1-DF54-DCCE-A23221D08D52}"/>
              </a:ext>
            </a:extLst>
          </p:cNvPr>
          <p:cNvSpPr txBox="1">
            <a:spLocks/>
          </p:cNvSpPr>
          <p:nvPr/>
        </p:nvSpPr>
        <p:spPr>
          <a:xfrm>
            <a:off x="10912287" y="5955095"/>
            <a:ext cx="765185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升维！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640D3F-C6CB-182D-11FA-2783D97FE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36" y="1138640"/>
            <a:ext cx="6800058" cy="2624229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5D0D2-BB1B-8865-7CEE-1BC7964B10E0}"/>
              </a:ext>
            </a:extLst>
          </p:cNvPr>
          <p:cNvSpPr txBox="1">
            <a:spLocks/>
          </p:cNvSpPr>
          <p:nvPr/>
        </p:nvSpPr>
        <p:spPr>
          <a:xfrm>
            <a:off x="3071886" y="4579985"/>
            <a:ext cx="6540957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但可以用一个 </a:t>
            </a:r>
            <a:r>
              <a:rPr lang="en-US" altLang="zh-CN" sz="1800" b="1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n + </a:t>
            </a:r>
            <a:r>
              <a:rPr lang="en-US" altLang="zh-CN" sz="1800" b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1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阶矩阵来表示 </a:t>
            </a:r>
            <a:r>
              <a:rPr lang="en-US" altLang="zh-CN" sz="1800" b="1" i="1" dirty="0"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n</a:t>
            </a:r>
            <a:r>
              <a:rPr lang="en-US" altLang="zh-CN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维空间下的仿射变换！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8714D9D-3AAD-623E-3F1B-43C93D87E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719" y="5121966"/>
            <a:ext cx="3508562" cy="55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1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96F9-C399-F927-4032-E23DA274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2DE65937-F470-FD10-838F-F9AD7862580E}"/>
              </a:ext>
            </a:extLst>
          </p:cNvPr>
          <p:cNvSpPr txBox="1">
            <a:spLocks/>
          </p:cNvSpPr>
          <p:nvPr/>
        </p:nvSpPr>
        <p:spPr>
          <a:xfrm>
            <a:off x="10549218" y="5955095"/>
            <a:ext cx="1128254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齐次坐标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DBFADE-B49D-D3FB-682E-E4C696F6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715" y="700941"/>
            <a:ext cx="3721691" cy="5984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08F259-76FE-F9EE-F126-575817126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551" y="1697691"/>
            <a:ext cx="2080898" cy="16700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986E65C-ECA5-D705-5990-0A7E21D10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182" y="3765964"/>
            <a:ext cx="5553636" cy="192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036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4A79-59D2-4151-A3B4-0A6429E8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F8B51E0-4D37-23B5-4279-5C24EB44D5B1}"/>
              </a:ext>
            </a:extLst>
          </p:cNvPr>
          <p:cNvSpPr txBox="1">
            <a:spLocks/>
          </p:cNvSpPr>
          <p:nvPr/>
        </p:nvSpPr>
        <p:spPr>
          <a:xfrm>
            <a:off x="10118912" y="5955095"/>
            <a:ext cx="1558560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透视投影变换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78BB44-A86A-FEF9-0B9A-3486AFAD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00" y="1183340"/>
            <a:ext cx="4858775" cy="42119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A511456-293C-70FA-2D70-93A5418AA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938" y="1304364"/>
            <a:ext cx="3100933" cy="95125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DA6027A-5785-4019-6C13-E4D2BFD2F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906" y="2429752"/>
            <a:ext cx="4753535" cy="99924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26731B0-EFAD-484B-F38F-81B7CBED9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513" y="3603135"/>
            <a:ext cx="3341595" cy="970218"/>
          </a:xfrm>
          <a:prstGeom prst="rect">
            <a:avLst/>
          </a:prstGeom>
        </p:spPr>
      </p:pic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ED89B4DC-546C-B926-602B-FDC499C74973}"/>
              </a:ext>
            </a:extLst>
          </p:cNvPr>
          <p:cNvSpPr txBox="1">
            <a:spLocks/>
          </p:cNvSpPr>
          <p:nvPr/>
        </p:nvSpPr>
        <p:spPr>
          <a:xfrm>
            <a:off x="6989344" y="4747488"/>
            <a:ext cx="3522658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显然不相等，它也需要齐次坐标。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3344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8852-2002-2BE0-1AB1-6294BBF6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C45580D-45BF-0C2F-61E8-36810D2090FA}"/>
              </a:ext>
            </a:extLst>
          </p:cNvPr>
          <p:cNvSpPr txBox="1">
            <a:spLocks/>
          </p:cNvSpPr>
          <p:nvPr/>
        </p:nvSpPr>
        <p:spPr>
          <a:xfrm>
            <a:off x="10118912" y="5955095"/>
            <a:ext cx="1558560" cy="4393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透视投影变换</a:t>
            </a:r>
            <a:endParaRPr lang="en-US" altLang="zh-CN" sz="18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B4344E-CAC6-7CB3-068E-4A414317B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00" y="1183340"/>
            <a:ext cx="4858775" cy="421195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3C6BCC0-AE27-BACA-E578-FEAB8512E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4196"/>
            <a:ext cx="5069542" cy="12541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06C82D0-B7A7-F95F-CE46-CEFBC14DB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356" y="4130534"/>
            <a:ext cx="1034198" cy="4752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DD758EB-83E8-D476-B418-92409B9B1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819" y="1824992"/>
            <a:ext cx="1608949" cy="58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177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7F77-1164-0356-E5E3-71ED7BA8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A2D681D-DC1D-23C4-CF2E-17F1C8C9B1A2}"/>
              </a:ext>
            </a:extLst>
          </p:cNvPr>
          <p:cNvSpPr txBox="1">
            <a:spLocks/>
          </p:cNvSpPr>
          <p:nvPr/>
        </p:nvSpPr>
        <p:spPr>
          <a:xfrm>
            <a:off x="5377842" y="2796148"/>
            <a:ext cx="1436315" cy="126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b="1" dirty="0">
                <a:latin typeface="JetBrains Mono ExtraBold" panose="02000009000000000000" pitchFamily="49" charset="0"/>
                <a:cs typeface="JetBrains Mono ExtraBold" panose="02000009000000000000" pitchFamily="49" charset="0"/>
              </a:rPr>
              <a:t>Q&amp;A</a:t>
            </a:r>
            <a:endParaRPr lang="zh-CN" altLang="en-US" sz="5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03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348</Words>
  <Application>Microsoft Office PowerPoint</Application>
  <PresentationFormat>宽屏</PresentationFormat>
  <Paragraphs>142</Paragraphs>
  <Slides>55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Noto Sans SC Black</vt:lpstr>
      <vt:lpstr>等线</vt:lpstr>
      <vt:lpstr>等线 Light</vt:lpstr>
      <vt:lpstr>黑体</vt:lpstr>
      <vt:lpstr>Arial</vt:lpstr>
      <vt:lpstr>JetBrains Mono</vt:lpstr>
      <vt:lpstr>JetBrains Mono ExtraBold</vt:lpstr>
      <vt:lpstr>Times New Roman</vt:lpstr>
      <vt:lpstr>Office 主题​​</vt:lpstr>
      <vt:lpstr>PowerPoint 演示文稿</vt:lpstr>
      <vt:lpstr> 数学基础</vt:lpstr>
      <vt:lpstr>Linear Algebra</vt:lpstr>
      <vt:lpstr>Cartesian coordinates</vt:lpstr>
      <vt:lpstr>Cartesian coordinates</vt:lpstr>
      <vt:lpstr>Vector</vt:lpstr>
      <vt:lpstr>Vector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Matrix</vt:lpstr>
      <vt:lpstr>Matrix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矩阵 = 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矩阵 = 映射 = 变换</vt:lpstr>
      <vt:lpstr>PowerPoint 演示文稿</vt:lpstr>
      <vt:lpstr>线性变换 ？</vt:lpstr>
      <vt:lpstr>线性变换 ？</vt:lpstr>
      <vt:lpstr>Affine Transformation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Brownie</dc:creator>
  <cp:lastModifiedBy>Eric Brownie</cp:lastModifiedBy>
  <cp:revision>112</cp:revision>
  <dcterms:created xsi:type="dcterms:W3CDTF">2026-01-08T08:51:56Z</dcterms:created>
  <dcterms:modified xsi:type="dcterms:W3CDTF">2026-01-11T06:35:06Z</dcterms:modified>
</cp:coreProperties>
</file>